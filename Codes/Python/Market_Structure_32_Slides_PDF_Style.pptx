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Market Structures in Microeconomics</a:t>
            </a:r>
          </a:p>
        </p:txBody>
      </p:sp>
      <p:sp>
        <p:nvSpPr>
          <p:cNvPr id="3" name="Subtitle 2"/>
          <p:cNvSpPr>
            <a:spLocks noGrp="1"/>
          </p:cNvSpPr>
          <p:nvPr>
            <p:ph type="subTitle" idx="1"/>
          </p:nvPr>
        </p:nvSpPr>
        <p:spPr/>
        <p:txBody>
          <a:bodyPr/>
          <a:lstStyle/>
          <a:p>
            <a:r>
              <a:t>Perfect Competition, Monopoly, Monopolistic Competition &amp; Oligopoly</a:t>
            </a:r>
          </a:p>
          <a:p>
            <a:r>
              <a:t>Based on Samuelson &amp; Nordhaus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Market Structure</a:t>
            </a:r>
          </a:p>
        </p:txBody>
      </p:sp>
      <p:sp>
        <p:nvSpPr>
          <p:cNvPr id="3" name="Content Placeholder 2"/>
          <p:cNvSpPr>
            <a:spLocks noGrp="1"/>
          </p:cNvSpPr>
          <p:nvPr>
            <p:ph idx="1"/>
          </p:nvPr>
        </p:nvSpPr>
        <p:spPr/>
        <p:txBody>
          <a:bodyPr/>
          <a:lstStyle/>
          <a:p>
            <a:r>
              <a:t>A market is a system where buyers and sellers interact to determine price and quantity through demand and supply. Market structure refers to the degree of competition and monopoly power in a market and explains firm behaviour, pricing strategies and consumer welfare.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Market Structures</a:t>
            </a:r>
          </a:p>
        </p:txBody>
      </p:sp>
      <p:sp>
        <p:nvSpPr>
          <p:cNvPr id="3" name="Content Placeholder 2"/>
          <p:cNvSpPr>
            <a:spLocks noGrp="1"/>
          </p:cNvSpPr>
          <p:nvPr>
            <p:ph idx="1"/>
          </p:nvPr>
        </p:nvSpPr>
        <p:spPr/>
        <p:txBody>
          <a:bodyPr/>
          <a:lstStyle/>
          <a:p>
            <a:r>
              <a:t>The four main forms of market structure are perfect competition, monopoly, monopolistic competition and oligopoly. These structures differ in number of firms, product differentiation and control over price.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Perfect Competition: Definition</a:t>
            </a:r>
          </a:p>
        </p:txBody>
      </p:sp>
      <p:sp>
        <p:nvSpPr>
          <p:cNvPr id="3" name="Content Placeholder 2"/>
          <p:cNvSpPr>
            <a:spLocks noGrp="1"/>
          </p:cNvSpPr>
          <p:nvPr>
            <p:ph idx="1"/>
          </p:nvPr>
        </p:nvSpPr>
        <p:spPr/>
        <p:txBody>
          <a:bodyPr/>
          <a:lstStyle/>
          <a:p>
            <a:r>
              <a:t>Perfect competition is a market where many buyers and sellers freely trade identical products and no single firm can influence the market price. Example: Agricultural markets such as wheat, rice, fruits and vegetables.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Features of Perfect Competition</a:t>
            </a:r>
          </a:p>
        </p:txBody>
      </p:sp>
      <p:sp>
        <p:nvSpPr>
          <p:cNvPr id="3" name="Content Placeholder 2"/>
          <p:cNvSpPr>
            <a:spLocks noGrp="1"/>
          </p:cNvSpPr>
          <p:nvPr>
            <p:ph idx="1"/>
          </p:nvPr>
        </p:nvSpPr>
        <p:spPr/>
        <p:txBody>
          <a:bodyPr/>
          <a:lstStyle/>
          <a:p>
            <a:r>
              <a:t>Perfect competition is characterized by homogeneous products, a large number of buyers and sellers and free entry and exit. Firms act as price takers, possess perfect knowledge and independently decide output to maximize profit.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Industry Equilibrium in Perfect Competition</a:t>
            </a:r>
          </a:p>
        </p:txBody>
      </p:sp>
      <p:sp>
        <p:nvSpPr>
          <p:cNvPr id="3" name="Content Placeholder 2"/>
          <p:cNvSpPr>
            <a:spLocks noGrp="1"/>
          </p:cNvSpPr>
          <p:nvPr>
            <p:ph idx="1"/>
          </p:nvPr>
        </p:nvSpPr>
        <p:spPr/>
        <p:txBody>
          <a:bodyPr/>
          <a:lstStyle/>
          <a:p>
            <a:r>
              <a:t>Market equilibrium occurs where quantity demanded equals quantity supplied (Qd = Qs). This determines equilibrium price and output, which becomes the market price accepted by all firms.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Short-Run Firm Equilibrium in Perfect Competition</a:t>
            </a:r>
          </a:p>
        </p:txBody>
      </p:sp>
      <p:sp>
        <p:nvSpPr>
          <p:cNvPr id="3" name="Content Placeholder 2"/>
          <p:cNvSpPr>
            <a:spLocks noGrp="1"/>
          </p:cNvSpPr>
          <p:nvPr>
            <p:ph idx="1"/>
          </p:nvPr>
        </p:nvSpPr>
        <p:spPr/>
        <p:txBody>
          <a:bodyPr/>
          <a:lstStyle/>
          <a:p>
            <a:r>
              <a:t>The firm produces where MR = MC and since the firm is a price taker, P = MR = AR. At this output level, the firm maximizes profit or minimizes loss in the short run.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Long-Run Firm Equilibrium in Perfect Competition</a:t>
            </a:r>
          </a:p>
        </p:txBody>
      </p:sp>
      <p:sp>
        <p:nvSpPr>
          <p:cNvPr id="3" name="Content Placeholder 2"/>
          <p:cNvSpPr>
            <a:spLocks noGrp="1"/>
          </p:cNvSpPr>
          <p:nvPr>
            <p:ph idx="1"/>
          </p:nvPr>
        </p:nvSpPr>
        <p:spPr/>
        <p:txBody>
          <a:bodyPr/>
          <a:lstStyle/>
          <a:p>
            <a:r>
              <a:t>Entry and exit of firms continue until P = MR = MC = AC. At this point firms earn only normal profit and the market reaches long-run equilibrium.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Criticism / Limitations of Perfect Competition</a:t>
            </a:r>
          </a:p>
        </p:txBody>
      </p:sp>
      <p:sp>
        <p:nvSpPr>
          <p:cNvPr id="3" name="Content Placeholder 2"/>
          <p:cNvSpPr>
            <a:spLocks noGrp="1"/>
          </p:cNvSpPr>
          <p:nvPr>
            <p:ph idx="1"/>
          </p:nvPr>
        </p:nvSpPr>
        <p:spPr/>
        <p:txBody>
          <a:bodyPr/>
          <a:lstStyle/>
          <a:p>
            <a:r>
              <a:t>Perfect competition is based on unrealistic assumptions such as perfect information, no advertising and no transport cost. It is difficult to apply in real life and profits are not sustainable in the long run.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Other Market Structures Exist</a:t>
            </a:r>
          </a:p>
        </p:txBody>
      </p:sp>
      <p:sp>
        <p:nvSpPr>
          <p:cNvPr id="3" name="Content Placeholder 2"/>
          <p:cNvSpPr>
            <a:spLocks noGrp="1"/>
          </p:cNvSpPr>
          <p:nvPr>
            <p:ph idx="1"/>
          </p:nvPr>
        </p:nvSpPr>
        <p:spPr/>
        <p:txBody>
          <a:bodyPr/>
          <a:lstStyle/>
          <a:p>
            <a:r>
              <a:t>Perfect competition is rare because firms differentiate products and create entry barriers to gain price control. This leads to the emergence of monopoly and monopolistic competition.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Monopoly: Definition</a:t>
            </a:r>
          </a:p>
        </p:txBody>
      </p:sp>
      <p:sp>
        <p:nvSpPr>
          <p:cNvPr id="3" name="Content Placeholder 2"/>
          <p:cNvSpPr>
            <a:spLocks noGrp="1"/>
          </p:cNvSpPr>
          <p:nvPr>
            <p:ph idx="1"/>
          </p:nvPr>
        </p:nvSpPr>
        <p:spPr/>
        <p:txBody>
          <a:bodyPr/>
          <a:lstStyle/>
          <a:p>
            <a:r>
              <a:t>A monopoly is a market structure where one firm is the sole producer of a good or service with no close substitutes and strong barriers to entry. Example: Electricity supply, railways, patented medicines.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Features of Monopoly</a:t>
            </a:r>
          </a:p>
        </p:txBody>
      </p:sp>
      <p:sp>
        <p:nvSpPr>
          <p:cNvPr id="3" name="Content Placeholder 2"/>
          <p:cNvSpPr>
            <a:spLocks noGrp="1"/>
          </p:cNvSpPr>
          <p:nvPr>
            <p:ph idx="1"/>
          </p:nvPr>
        </p:nvSpPr>
        <p:spPr/>
        <p:txBody>
          <a:bodyPr/>
          <a:lstStyle/>
          <a:p>
            <a:r>
              <a:t>Monopoly is characterized by a single seller, strong entry barriers, price making power, absence of close substitutes and a downward sloping demand curve.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Short-Run Monopoly Equilibrium</a:t>
            </a:r>
          </a:p>
        </p:txBody>
      </p:sp>
      <p:sp>
        <p:nvSpPr>
          <p:cNvPr id="3" name="Content Placeholder 2"/>
          <p:cNvSpPr>
            <a:spLocks noGrp="1"/>
          </p:cNvSpPr>
          <p:nvPr>
            <p:ph idx="1"/>
          </p:nvPr>
        </p:nvSpPr>
        <p:spPr/>
        <p:txBody>
          <a:bodyPr/>
          <a:lstStyle/>
          <a:p>
            <a:r>
              <a:t>The monopolist maximizes profit where MR = MC and charges price from the demand curve, therefore P &gt; MR. This allows supernormal profit in the short run.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Long-Run Monopoly Equilibrium</a:t>
            </a:r>
          </a:p>
        </p:txBody>
      </p:sp>
      <p:sp>
        <p:nvSpPr>
          <p:cNvPr id="3" name="Content Placeholder 2"/>
          <p:cNvSpPr>
            <a:spLocks noGrp="1"/>
          </p:cNvSpPr>
          <p:nvPr>
            <p:ph idx="1"/>
          </p:nvPr>
        </p:nvSpPr>
        <p:spPr/>
        <p:txBody>
          <a:bodyPr/>
          <a:lstStyle/>
          <a:p>
            <a:r>
              <a:t>In the long run entry is blocked, so MR = MC and P &gt; AC. The firm continues earning abnormal profit even in the long run.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Criticism of Monopoly</a:t>
            </a:r>
          </a:p>
        </p:txBody>
      </p:sp>
      <p:sp>
        <p:nvSpPr>
          <p:cNvPr id="3" name="Content Placeholder 2"/>
          <p:cNvSpPr>
            <a:spLocks noGrp="1"/>
          </p:cNvSpPr>
          <p:nvPr>
            <p:ph idx="1"/>
          </p:nvPr>
        </p:nvSpPr>
        <p:spPr/>
        <p:txBody>
          <a:bodyPr/>
          <a:lstStyle/>
          <a:p>
            <a:r>
              <a:t>Monopoly leads to higher prices, price discrimination and reduced consumer welfare. Lack of competition may reduce quality and encourage unfair trade practices.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Classification of Monopoly</a:t>
            </a:r>
          </a:p>
        </p:txBody>
      </p:sp>
      <p:sp>
        <p:nvSpPr>
          <p:cNvPr id="3" name="Content Placeholder 2"/>
          <p:cNvSpPr>
            <a:spLocks noGrp="1"/>
          </p:cNvSpPr>
          <p:nvPr>
            <p:ph idx="1"/>
          </p:nvPr>
        </p:nvSpPr>
        <p:spPr/>
        <p:txBody>
          <a:bodyPr/>
          <a:lstStyle/>
          <a:p>
            <a:r>
              <a:t>Monopoly may be natural monopoly, legal monopoly or coercive monopoly depending on the source of market power and barriers to entry.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Monopolistic Competition: Definition</a:t>
            </a:r>
          </a:p>
        </p:txBody>
      </p:sp>
      <p:sp>
        <p:nvSpPr>
          <p:cNvPr id="3" name="Content Placeholder 2"/>
          <p:cNvSpPr>
            <a:spLocks noGrp="1"/>
          </p:cNvSpPr>
          <p:nvPr>
            <p:ph idx="1"/>
          </p:nvPr>
        </p:nvSpPr>
        <p:spPr/>
        <p:txBody>
          <a:bodyPr/>
          <a:lstStyle/>
          <a:p>
            <a:r>
              <a:t>Monopolistic competition is a market structure between perfect competition and monopoly where firms sell differentiated products and have some price control. Example: Restaurants, clothing brands, salons.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Features of Monopolistic Competition</a:t>
            </a:r>
          </a:p>
        </p:txBody>
      </p:sp>
      <p:sp>
        <p:nvSpPr>
          <p:cNvPr id="3" name="Content Placeholder 2"/>
          <p:cNvSpPr>
            <a:spLocks noGrp="1"/>
          </p:cNvSpPr>
          <p:nvPr>
            <p:ph idx="1"/>
          </p:nvPr>
        </p:nvSpPr>
        <p:spPr/>
        <p:txBody>
          <a:bodyPr/>
          <a:lstStyle/>
          <a:p>
            <a:r>
              <a:t>It is characterized by product differentiation, many small firms, low entry barriers, selling costs and a downward sloping demand curve.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Short-Run Equilibrium in Monopolistic Competition</a:t>
            </a:r>
          </a:p>
        </p:txBody>
      </p:sp>
      <p:sp>
        <p:nvSpPr>
          <p:cNvPr id="3" name="Content Placeholder 2"/>
          <p:cNvSpPr>
            <a:spLocks noGrp="1"/>
          </p:cNvSpPr>
          <p:nvPr>
            <p:ph idx="1"/>
          </p:nvPr>
        </p:nvSpPr>
        <p:spPr/>
        <p:txBody>
          <a:bodyPr/>
          <a:lstStyle/>
          <a:p>
            <a:r>
              <a:t>Each firm maximizes profit where MR = MC and because the demand curve slopes downward, P &gt; MR allowing supernormal profit in the short run.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Long-Run Equilibrium in Monopolistic Competition</a:t>
            </a:r>
          </a:p>
        </p:txBody>
      </p:sp>
      <p:sp>
        <p:nvSpPr>
          <p:cNvPr id="3" name="Content Placeholder 2"/>
          <p:cNvSpPr>
            <a:spLocks noGrp="1"/>
          </p:cNvSpPr>
          <p:nvPr>
            <p:ph idx="1"/>
          </p:nvPr>
        </p:nvSpPr>
        <p:spPr/>
        <p:txBody>
          <a:bodyPr/>
          <a:lstStyle/>
          <a:p>
            <a:r>
              <a:t>In the long run new firms enter reducing profits until MR = MC and P = AC. Firms earn only normal profit.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Criticism of Monopolistic Competition</a:t>
            </a:r>
          </a:p>
        </p:txBody>
      </p:sp>
      <p:sp>
        <p:nvSpPr>
          <p:cNvPr id="3" name="Content Placeholder 2"/>
          <p:cNvSpPr>
            <a:spLocks noGrp="1"/>
          </p:cNvSpPr>
          <p:nvPr>
            <p:ph idx="1"/>
          </p:nvPr>
        </p:nvSpPr>
        <p:spPr/>
        <p:txBody>
          <a:bodyPr/>
          <a:lstStyle/>
          <a:p>
            <a:r>
              <a:t>This market structure leads to higher prices due to branding, excess advertising costs and consumer confusion caused by product differentiation.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Oligopoly: Definition</a:t>
            </a:r>
          </a:p>
        </p:txBody>
      </p:sp>
      <p:sp>
        <p:nvSpPr>
          <p:cNvPr id="3" name="Content Placeholder 2"/>
          <p:cNvSpPr>
            <a:spLocks noGrp="1"/>
          </p:cNvSpPr>
          <p:nvPr>
            <p:ph idx="1"/>
          </p:nvPr>
        </p:nvSpPr>
        <p:spPr/>
        <p:txBody>
          <a:bodyPr/>
          <a:lstStyle/>
          <a:p>
            <a:r>
              <a:t>Oligopoly is a market structure where a small number of firms dominate the market and each firm’s decisions affect the others. Example: Telecom companies, automobile industry, airlines.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Features of Oligopoly</a:t>
            </a:r>
          </a:p>
        </p:txBody>
      </p:sp>
      <p:sp>
        <p:nvSpPr>
          <p:cNvPr id="3" name="Content Placeholder 2"/>
          <p:cNvSpPr>
            <a:spLocks noGrp="1"/>
          </p:cNvSpPr>
          <p:nvPr>
            <p:ph idx="1"/>
          </p:nvPr>
        </p:nvSpPr>
        <p:spPr/>
        <p:txBody>
          <a:bodyPr/>
          <a:lstStyle/>
          <a:p>
            <a:r>
              <a:t>Oligopoly is characterized by interdependence, few dominant firms, heavy advertising, high barriers to entry and strategic decision making.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Kinked Demand Curve Model</a:t>
            </a:r>
          </a:p>
        </p:txBody>
      </p:sp>
      <p:sp>
        <p:nvSpPr>
          <p:cNvPr id="3" name="Content Placeholder 2"/>
          <p:cNvSpPr>
            <a:spLocks noGrp="1"/>
          </p:cNvSpPr>
          <p:nvPr>
            <p:ph idx="1"/>
          </p:nvPr>
        </p:nvSpPr>
        <p:spPr/>
        <p:txBody>
          <a:bodyPr/>
          <a:lstStyle/>
          <a:p>
            <a:r>
              <a:t>Firms believe competitors will follow price decreases but ignore price increases, creating a kinked demand curve and price rigidity. Equilibrium condition remains MR = MC.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Oligopoly</a:t>
            </a:r>
          </a:p>
        </p:txBody>
      </p:sp>
      <p:sp>
        <p:nvSpPr>
          <p:cNvPr id="3" name="Content Placeholder 2"/>
          <p:cNvSpPr>
            <a:spLocks noGrp="1"/>
          </p:cNvSpPr>
          <p:nvPr>
            <p:ph idx="1"/>
          </p:nvPr>
        </p:nvSpPr>
        <p:spPr/>
        <p:txBody>
          <a:bodyPr/>
          <a:lstStyle/>
          <a:p>
            <a:r>
              <a:t>Oligopoly may be pure oligopoly, differentiated oligopoly, collusive oligopoly or non-collusive oligopoly depending on product nature and firm behaviour.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Collusion, Cartel and Price Leadership</a:t>
            </a:r>
          </a:p>
        </p:txBody>
      </p:sp>
      <p:sp>
        <p:nvSpPr>
          <p:cNvPr id="3" name="Content Placeholder 2"/>
          <p:cNvSpPr>
            <a:spLocks noGrp="1"/>
          </p:cNvSpPr>
          <p:nvPr>
            <p:ph idx="1"/>
          </p:nvPr>
        </p:nvSpPr>
        <p:spPr/>
        <p:txBody>
          <a:bodyPr/>
          <a:lstStyle/>
          <a:p>
            <a:r>
              <a:t>Firms may collude to fix prices, form cartels to behave like a monopoly or follow price leadership where one dominant firm sets the price.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Criticism of Oligopoly</a:t>
            </a:r>
          </a:p>
        </p:txBody>
      </p:sp>
      <p:sp>
        <p:nvSpPr>
          <p:cNvPr id="3" name="Content Placeholder 2"/>
          <p:cNvSpPr>
            <a:spLocks noGrp="1"/>
          </p:cNvSpPr>
          <p:nvPr>
            <p:ph idx="1"/>
          </p:nvPr>
        </p:nvSpPr>
        <p:spPr/>
        <p:txBody>
          <a:bodyPr/>
          <a:lstStyle/>
          <a:p>
            <a:r>
              <a:t>Oligopoly reduces competition and choice, may result in higher prices and can slow innovation due to reduced competitive pressure.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Comparative Overview</a:t>
            </a:r>
          </a:p>
        </p:txBody>
      </p:sp>
      <p:sp>
        <p:nvSpPr>
          <p:cNvPr id="3" name="Content Placeholder 2"/>
          <p:cNvSpPr>
            <a:spLocks noGrp="1"/>
          </p:cNvSpPr>
          <p:nvPr>
            <p:ph idx="1"/>
          </p:nvPr>
        </p:nvSpPr>
        <p:spPr/>
        <p:txBody>
          <a:bodyPr/>
          <a:lstStyle/>
          <a:p>
            <a:r>
              <a:t>Perfect competition represents maximum competition, monopoly shows absence of competition, while monopolistic competition and oligopoly lie between these extremes.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Importance of Market Structures</a:t>
            </a:r>
          </a:p>
        </p:txBody>
      </p:sp>
      <p:sp>
        <p:nvSpPr>
          <p:cNvPr id="3" name="Content Placeholder 2"/>
          <p:cNvSpPr>
            <a:spLocks noGrp="1"/>
          </p:cNvSpPr>
          <p:nvPr>
            <p:ph idx="1"/>
          </p:nvPr>
        </p:nvSpPr>
        <p:spPr/>
        <p:txBody>
          <a:bodyPr/>
          <a:lstStyle/>
          <a:p>
            <a:r>
              <a:t>Understanding market structures helps analyse firm behaviour, pricing decisions and their impact on consumers and economic efficiency.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 World Relevance</a:t>
            </a:r>
          </a:p>
        </p:txBody>
      </p:sp>
      <p:sp>
        <p:nvSpPr>
          <p:cNvPr id="3" name="Content Placeholder 2"/>
          <p:cNvSpPr>
            <a:spLocks noGrp="1"/>
          </p:cNvSpPr>
          <p:nvPr>
            <p:ph idx="1"/>
          </p:nvPr>
        </p:nvSpPr>
        <p:spPr/>
        <p:txBody>
          <a:bodyPr/>
          <a:lstStyle/>
          <a:p>
            <a:r>
              <a:t>Most real markets resemble monopolistic competition or oligopoly rather than perfect competition or pure monopoly.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r>
              <a:t>Different market structures influence price, output and profits differently based on competition level and market power.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Market structures explain how competition affects firm behaviour, pricing and profits. They help understand decision making, price determination and the impact on consumers and economic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