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Market Structures in Microeconomics</a:t>
            </a:r>
          </a:p>
        </p:txBody>
      </p:sp>
      <p:sp>
        <p:nvSpPr>
          <p:cNvPr id="3" name="Subtitle 2"/>
          <p:cNvSpPr>
            <a:spLocks noGrp="1"/>
          </p:cNvSpPr>
          <p:nvPr>
            <p:ph type="subTitle" idx="1"/>
          </p:nvPr>
        </p:nvSpPr>
        <p:spPr/>
        <p:txBody>
          <a:bodyPr/>
          <a:lstStyle/>
          <a:p>
            <a:r>
              <a:t>Perfect Competition, Monopoly, Monopolistic Competition &amp; Oligopoly</a:t>
            </a:r>
          </a:p>
          <a:p>
            <a:r>
              <a:t>Based on Samuelson &amp; Nordhaus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Meaning of Market and Market Structure</a:t>
            </a:r>
          </a:p>
        </p:txBody>
      </p:sp>
      <p:sp>
        <p:nvSpPr>
          <p:cNvPr id="3" name="Content Placeholder 2"/>
          <p:cNvSpPr>
            <a:spLocks noGrp="1"/>
          </p:cNvSpPr>
          <p:nvPr>
            <p:ph idx="1"/>
          </p:nvPr>
        </p:nvSpPr>
        <p:spPr/>
        <p:txBody>
          <a:bodyPr/>
          <a:lstStyle/>
          <a:p>
            <a:r>
              <a:t>A market is a system in which buyers and sellers interact to exchange goods and services and determine price and quantity through demand and supply forces.</a:t>
            </a:r>
          </a:p>
          <a:p/>
          <a:p>
            <a:r>
              <a:t>Market structure refers to the organizational characteristics of a market that influence the degree of competition, pricing behaviour, output decisions and profit levels of firms.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Market Structures</a:t>
            </a:r>
          </a:p>
        </p:txBody>
      </p:sp>
      <p:sp>
        <p:nvSpPr>
          <p:cNvPr id="3" name="Content Placeholder 2"/>
          <p:cNvSpPr>
            <a:spLocks noGrp="1"/>
          </p:cNvSpPr>
          <p:nvPr>
            <p:ph idx="1"/>
          </p:nvPr>
        </p:nvSpPr>
        <p:spPr/>
        <p:txBody>
          <a:bodyPr/>
          <a:lstStyle/>
          <a:p>
            <a:r>
              <a:t>Economists classify markets into four main forms based on the level of competition and market power:</a:t>
            </a:r>
          </a:p>
          <a:p>
            <a:r>
              <a:t>• Perfect Competition</a:t>
            </a:r>
          </a:p>
          <a:p>
            <a:r>
              <a:t>• Monopoly</a:t>
            </a:r>
          </a:p>
          <a:p>
            <a:r>
              <a:t>• Monopolistic Competition</a:t>
            </a:r>
          </a:p>
          <a:p>
            <a:r>
              <a:t>• Oligopoly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Definition of Perfect Competition</a:t>
            </a:r>
          </a:p>
        </p:txBody>
      </p:sp>
      <p:sp>
        <p:nvSpPr>
          <p:cNvPr id="3" name="Content Placeholder 2"/>
          <p:cNvSpPr>
            <a:spLocks noGrp="1"/>
          </p:cNvSpPr>
          <p:nvPr>
            <p:ph idx="1"/>
          </p:nvPr>
        </p:nvSpPr>
        <p:spPr/>
        <p:txBody>
          <a:bodyPr/>
          <a:lstStyle/>
          <a:p>
            <a:r>
              <a:t>Perfect competition is a market structure in which a very large number of buyers and sellers deal in identical products and no single firm can influence the market price.</a:t>
            </a:r>
          </a:p>
          <a:p/>
          <a:p>
            <a:r>
              <a:t>Example: Agricultural markets such as wheat or rice.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Characteristics of Perfect Competition</a:t>
            </a:r>
          </a:p>
        </p:txBody>
      </p:sp>
      <p:sp>
        <p:nvSpPr>
          <p:cNvPr id="3" name="Content Placeholder 2"/>
          <p:cNvSpPr>
            <a:spLocks noGrp="1"/>
          </p:cNvSpPr>
          <p:nvPr>
            <p:ph idx="1"/>
          </p:nvPr>
        </p:nvSpPr>
        <p:spPr/>
        <p:txBody>
          <a:bodyPr/>
          <a:lstStyle/>
          <a:p>
            <a:r>
              <a:t>Perfect competition is characterized by the presence of a large number of buyers and sellers which makes each firm too small to influence market price. All firms produce homogeneous products and there is free entry and exit of firms. Firms possess perfect knowledge and act as price takers.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Short-Run Equilibrium in Perfect Competition</a:t>
            </a:r>
          </a:p>
        </p:txBody>
      </p:sp>
      <p:sp>
        <p:nvSpPr>
          <p:cNvPr id="3" name="Content Placeholder 2"/>
          <p:cNvSpPr>
            <a:spLocks noGrp="1"/>
          </p:cNvSpPr>
          <p:nvPr>
            <p:ph idx="1"/>
          </p:nvPr>
        </p:nvSpPr>
        <p:spPr/>
        <p:txBody>
          <a:bodyPr/>
          <a:lstStyle/>
          <a:p>
            <a:r>
              <a:t>A perfectly competitive firm maximizes profit where MR = MC. Since the firm is a price taker, Price = MR = AR at equilibrium output.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Long-Run Equilibrium in Perfect Competition</a:t>
            </a:r>
          </a:p>
        </p:txBody>
      </p:sp>
      <p:sp>
        <p:nvSpPr>
          <p:cNvPr id="3" name="Content Placeholder 2"/>
          <p:cNvSpPr>
            <a:spLocks noGrp="1"/>
          </p:cNvSpPr>
          <p:nvPr>
            <p:ph idx="1"/>
          </p:nvPr>
        </p:nvSpPr>
        <p:spPr/>
        <p:txBody>
          <a:bodyPr/>
          <a:lstStyle/>
          <a:p>
            <a:r>
              <a:t>In the long run, entry and exit of firms eliminate abnormal profits and equilibrium occurs where P = MR = MC = AC. Firms earn only normal profit.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Definition of Monopoly</a:t>
            </a:r>
          </a:p>
        </p:txBody>
      </p:sp>
      <p:sp>
        <p:nvSpPr>
          <p:cNvPr id="3" name="Content Placeholder 2"/>
          <p:cNvSpPr>
            <a:spLocks noGrp="1"/>
          </p:cNvSpPr>
          <p:nvPr>
            <p:ph idx="1"/>
          </p:nvPr>
        </p:nvSpPr>
        <p:spPr/>
        <p:txBody>
          <a:bodyPr/>
          <a:lstStyle/>
          <a:p>
            <a:r>
              <a:t>Monopoly is a market structure in which a single firm is the sole producer of a product with no close substitutes and strong barriers prevent entry of new firms.</a:t>
            </a:r>
          </a:p>
          <a:p/>
          <a:p>
            <a:r>
              <a:t>Example: Electricity supply services in many regions.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Characteristics of Monopoly</a:t>
            </a:r>
          </a:p>
        </p:txBody>
      </p:sp>
      <p:sp>
        <p:nvSpPr>
          <p:cNvPr id="3" name="Content Placeholder 2"/>
          <p:cNvSpPr>
            <a:spLocks noGrp="1"/>
          </p:cNvSpPr>
          <p:nvPr>
            <p:ph idx="1"/>
          </p:nvPr>
        </p:nvSpPr>
        <p:spPr/>
        <p:txBody>
          <a:bodyPr/>
          <a:lstStyle/>
          <a:p>
            <a:r>
              <a:t>Monopoly is characterized by a single seller representing the entire industry. The product has no close substitutes and strong barriers to entry exist. The firm is a price maker and faces a downward sloping demand curve.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Short-Run Equilibrium in Monopoly</a:t>
            </a:r>
          </a:p>
        </p:txBody>
      </p:sp>
      <p:sp>
        <p:nvSpPr>
          <p:cNvPr id="3" name="Content Placeholder 2"/>
          <p:cNvSpPr>
            <a:spLocks noGrp="1"/>
          </p:cNvSpPr>
          <p:nvPr>
            <p:ph idx="1"/>
          </p:nvPr>
        </p:nvSpPr>
        <p:spPr/>
        <p:txBody>
          <a:bodyPr/>
          <a:lstStyle/>
          <a:p>
            <a:r>
              <a:t>A monopolist maximizes profit where MR = MC. Because the demand curve slopes downward, Price is greater than MR and the firm may earn supernormal profit.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Long-Run Equilibrium in Monopoly</a:t>
            </a:r>
          </a:p>
        </p:txBody>
      </p:sp>
      <p:sp>
        <p:nvSpPr>
          <p:cNvPr id="3" name="Content Placeholder 2"/>
          <p:cNvSpPr>
            <a:spLocks noGrp="1"/>
          </p:cNvSpPr>
          <p:nvPr>
            <p:ph idx="1"/>
          </p:nvPr>
        </p:nvSpPr>
        <p:spPr/>
        <p:txBody>
          <a:bodyPr/>
          <a:lstStyle/>
          <a:p>
            <a:r>
              <a:t>Due to strong entry barriers, monopoly firms can continue to earn abnormal profits even in the long run where MR = MC and Price &gt; AC.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Definition of Monopolistic Competition</a:t>
            </a:r>
          </a:p>
        </p:txBody>
      </p:sp>
      <p:sp>
        <p:nvSpPr>
          <p:cNvPr id="3" name="Content Placeholder 2"/>
          <p:cNvSpPr>
            <a:spLocks noGrp="1"/>
          </p:cNvSpPr>
          <p:nvPr>
            <p:ph idx="1"/>
          </p:nvPr>
        </p:nvSpPr>
        <p:spPr/>
        <p:txBody>
          <a:bodyPr/>
          <a:lstStyle/>
          <a:p>
            <a:r>
              <a:t>Monopolistic competition is a market structure where many firms sell differentiated products that are close substitutes and each firm has some control over price.</a:t>
            </a:r>
          </a:p>
          <a:p/>
          <a:p>
            <a:r>
              <a:t>Example: Restaurants and clothing brands.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Characteristics of Monopolistic Competition</a:t>
            </a:r>
          </a:p>
        </p:txBody>
      </p:sp>
      <p:sp>
        <p:nvSpPr>
          <p:cNvPr id="3" name="Content Placeholder 2"/>
          <p:cNvSpPr>
            <a:spLocks noGrp="1"/>
          </p:cNvSpPr>
          <p:nvPr>
            <p:ph idx="1"/>
          </p:nvPr>
        </p:nvSpPr>
        <p:spPr/>
        <p:txBody>
          <a:bodyPr/>
          <a:lstStyle/>
          <a:p>
            <a:r>
              <a:t>This market structure has many firms selling differentiated products. There are low barriers to entry and firms incur advertising costs. Each firm faces a downward sloping demand curve due to product differentiation.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Short-Run Equilibrium in Monopolistic Competition</a:t>
            </a:r>
          </a:p>
        </p:txBody>
      </p:sp>
      <p:sp>
        <p:nvSpPr>
          <p:cNvPr id="3" name="Content Placeholder 2"/>
          <p:cNvSpPr>
            <a:spLocks noGrp="1"/>
          </p:cNvSpPr>
          <p:nvPr>
            <p:ph idx="1"/>
          </p:nvPr>
        </p:nvSpPr>
        <p:spPr/>
        <p:txBody>
          <a:bodyPr/>
          <a:lstStyle/>
          <a:p>
            <a:r>
              <a:t>Firms maximize profit where MR = MC. Because of product differentiation, price is greater than marginal revenue and firms may earn supernormal profit in the short run.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Long-Run Equilibrium in Monopolistic Competition</a:t>
            </a:r>
          </a:p>
        </p:txBody>
      </p:sp>
      <p:sp>
        <p:nvSpPr>
          <p:cNvPr id="3" name="Content Placeholder 2"/>
          <p:cNvSpPr>
            <a:spLocks noGrp="1"/>
          </p:cNvSpPr>
          <p:nvPr>
            <p:ph idx="1"/>
          </p:nvPr>
        </p:nvSpPr>
        <p:spPr/>
        <p:txBody>
          <a:bodyPr/>
          <a:lstStyle/>
          <a:p>
            <a:r>
              <a:t>In the long run, entry of new firms reduces profits and equilibrium occurs where MR = MC and Price = AC. Firms earn only normal profit.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Definition of Oligopoly</a:t>
            </a:r>
          </a:p>
        </p:txBody>
      </p:sp>
      <p:sp>
        <p:nvSpPr>
          <p:cNvPr id="3" name="Content Placeholder 2"/>
          <p:cNvSpPr>
            <a:spLocks noGrp="1"/>
          </p:cNvSpPr>
          <p:nvPr>
            <p:ph idx="1"/>
          </p:nvPr>
        </p:nvSpPr>
        <p:spPr/>
        <p:txBody>
          <a:bodyPr/>
          <a:lstStyle/>
          <a:p>
            <a:r>
              <a:t>Oligopoly is a market structure in which a small number of large firms dominate the market and each firm’s decisions influence the actions of other firms.</a:t>
            </a:r>
          </a:p>
          <a:p/>
          <a:p>
            <a:r>
              <a:t>Example: Telecom and automobile industries.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Characteristics of Oligopoly</a:t>
            </a:r>
          </a:p>
        </p:txBody>
      </p:sp>
      <p:sp>
        <p:nvSpPr>
          <p:cNvPr id="3" name="Content Placeholder 2"/>
          <p:cNvSpPr>
            <a:spLocks noGrp="1"/>
          </p:cNvSpPr>
          <p:nvPr>
            <p:ph idx="1"/>
          </p:nvPr>
        </p:nvSpPr>
        <p:spPr/>
        <p:txBody>
          <a:bodyPr/>
          <a:lstStyle/>
          <a:p>
            <a:r>
              <a:t>Oligopoly is characterized by a few dominant firms, high barriers to entry and interdependence among firms. Firms engage in strategic decision making and prices tend to remain rigid to avoid price wars.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Kinked Demand Curve in Oligopoly</a:t>
            </a:r>
          </a:p>
        </p:txBody>
      </p:sp>
      <p:sp>
        <p:nvSpPr>
          <p:cNvPr id="3" name="Content Placeholder 2"/>
          <p:cNvSpPr>
            <a:spLocks noGrp="1"/>
          </p:cNvSpPr>
          <p:nvPr>
            <p:ph idx="1"/>
          </p:nvPr>
        </p:nvSpPr>
        <p:spPr/>
        <p:txBody>
          <a:bodyPr/>
          <a:lstStyle/>
          <a:p>
            <a:r>
              <a:t>In oligopoly, firms believe competitors will follow price decreases but ignore price increases. This creates a kink in the demand curve and leads to price rigidity.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Market structures explain how competition affects pricing, output and profit levels. Perfect competition ensures efficiency, monopoly creates maximum market power, while monopolistic competition and oligopoly lie between these two extremes.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