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Market Structures in Microeconomics</a:t>
            </a:r>
          </a:p>
        </p:txBody>
      </p:sp>
      <p:sp>
        <p:nvSpPr>
          <p:cNvPr id="3" name="Subtitle 2"/>
          <p:cNvSpPr>
            <a:spLocks noGrp="1"/>
          </p:cNvSpPr>
          <p:nvPr>
            <p:ph type="subTitle" idx="1"/>
          </p:nvPr>
        </p:nvSpPr>
        <p:spPr/>
        <p:txBody>
          <a:bodyPr/>
          <a:lstStyle/>
          <a:p>
            <a:r>
              <a:t>Perfect Competition, Monopoly, Monopolistic Competition &amp; Oligopoly</a:t>
            </a:r>
          </a:p>
          <a:p>
            <a:r>
              <a:t>Based on concepts from Samuelson &amp; Nordhaus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Meaning of Market and Market Structure</a:t>
            </a:r>
          </a:p>
        </p:txBody>
      </p:sp>
      <p:sp>
        <p:nvSpPr>
          <p:cNvPr id="3" name="Content Placeholder 2"/>
          <p:cNvSpPr>
            <a:spLocks noGrp="1"/>
          </p:cNvSpPr>
          <p:nvPr>
            <p:ph idx="1"/>
          </p:nvPr>
        </p:nvSpPr>
        <p:spPr/>
        <p:txBody>
          <a:bodyPr/>
          <a:lstStyle/>
          <a:p>
            <a:r>
              <a:t>A market is a system in which buyers and sellers interact to exchange goods and services and determine price and quantity through demand and supply forces.</a:t>
            </a:r>
          </a:p>
          <a:p/>
          <a:p>
            <a:r>
              <a:t>Market structure refers to the organizational characteristics of a market that influence the degree of competition, pricing behaviour, output decisions and profit levels of firms. Thus, market structure explains how firms behave under different competitive conditions.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Types of Market Structures</a:t>
            </a:r>
          </a:p>
        </p:txBody>
      </p:sp>
      <p:sp>
        <p:nvSpPr>
          <p:cNvPr id="3" name="Content Placeholder 2"/>
          <p:cNvSpPr>
            <a:spLocks noGrp="1"/>
          </p:cNvSpPr>
          <p:nvPr>
            <p:ph idx="1"/>
          </p:nvPr>
        </p:nvSpPr>
        <p:spPr/>
        <p:txBody>
          <a:bodyPr/>
          <a:lstStyle/>
          <a:p>
            <a:r>
              <a:t>Economists classify markets into four main forms based on the level of competition and market power. These are perfect competition, monopoly, monopolistic competition and oligopoly. Each structure differs in number of firms, type of product and degree of control over price.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Definition of Perfect Competition (with Example)</a:t>
            </a:r>
          </a:p>
        </p:txBody>
      </p:sp>
      <p:sp>
        <p:nvSpPr>
          <p:cNvPr id="3" name="Content Placeholder 2"/>
          <p:cNvSpPr>
            <a:spLocks noGrp="1"/>
          </p:cNvSpPr>
          <p:nvPr>
            <p:ph idx="1"/>
          </p:nvPr>
        </p:nvSpPr>
        <p:spPr/>
        <p:txBody>
          <a:bodyPr/>
          <a:lstStyle/>
          <a:p>
            <a:r>
              <a:t>Perfect competition is a market structure in which a very large number of buyers and sellers deal in identical products and no single firm can influence the market price.</a:t>
            </a:r>
          </a:p>
          <a:p/>
          <a:p>
            <a:r>
              <a:t>For example, agricultural markets such as wheat or rice markets closely resemble perfect competition because many farmers sell identical products and accept the market price.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Characteristics of Perfect Competition</a:t>
            </a:r>
          </a:p>
        </p:txBody>
      </p:sp>
      <p:sp>
        <p:nvSpPr>
          <p:cNvPr id="3" name="Content Placeholder 2"/>
          <p:cNvSpPr>
            <a:spLocks noGrp="1"/>
          </p:cNvSpPr>
          <p:nvPr>
            <p:ph idx="1"/>
          </p:nvPr>
        </p:nvSpPr>
        <p:spPr/>
        <p:txBody>
          <a:bodyPr/>
          <a:lstStyle/>
          <a:p>
            <a:r>
              <a:t>Perfect competition is characterized by the presence of a large number of buyers and sellers, which makes each firm too small to influence market price. All firms produce homogeneous products, meaning consumers do not distinguish between products of different firms. There is free entry and exit of firms, allowing new firms to enter when profits exist and leave when losses occur. Firms have perfect knowledge about prices and market conditions, ensuring transparency in transactions. Each firm acts as a price taker and accepts the price determined by the forces of demand and supply.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Nature of Demand Curve</a:t>
            </a:r>
          </a:p>
        </p:txBody>
      </p:sp>
      <p:sp>
        <p:nvSpPr>
          <p:cNvPr id="3" name="Content Placeholder 2"/>
          <p:cNvSpPr>
            <a:spLocks noGrp="1"/>
          </p:cNvSpPr>
          <p:nvPr>
            <p:ph idx="1"/>
          </p:nvPr>
        </p:nvSpPr>
        <p:spPr/>
        <p:txBody>
          <a:bodyPr/>
          <a:lstStyle/>
          <a:p>
            <a:r>
              <a:t>Under perfect competition, the demand curve facing an individual firm is perfectly elastic because the firm can sell any quantity at the market price but cannot charge a higher price.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Definition of Monopoly (with Example)</a:t>
            </a:r>
          </a:p>
        </p:txBody>
      </p:sp>
      <p:sp>
        <p:nvSpPr>
          <p:cNvPr id="3" name="Content Placeholder 2"/>
          <p:cNvSpPr>
            <a:spLocks noGrp="1"/>
          </p:cNvSpPr>
          <p:nvPr>
            <p:ph idx="1"/>
          </p:nvPr>
        </p:nvSpPr>
        <p:spPr/>
        <p:txBody>
          <a:bodyPr/>
          <a:lstStyle/>
          <a:p>
            <a:r>
              <a:t>Monopoly is a market structure in which a single firm is the sole producer of a product with no close substitutes and where entry of new firms is strongly restricted.</a:t>
            </a:r>
          </a:p>
          <a:p/>
          <a:p>
            <a:r>
              <a:t>For example, public utility services such as electricity supply in many regions operate as monopolies because a single firm controls the entire market.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Characteristics of Monopoly</a:t>
            </a:r>
          </a:p>
        </p:txBody>
      </p:sp>
      <p:sp>
        <p:nvSpPr>
          <p:cNvPr id="3" name="Content Placeholder 2"/>
          <p:cNvSpPr>
            <a:spLocks noGrp="1"/>
          </p:cNvSpPr>
          <p:nvPr>
            <p:ph idx="1"/>
          </p:nvPr>
        </p:nvSpPr>
        <p:spPr/>
        <p:txBody>
          <a:bodyPr/>
          <a:lstStyle/>
          <a:p>
            <a:r>
              <a:t>Monopoly is characterized by the existence of a single seller who represents the entire industry. The product supplied by the monopolist has no close substitutes, which gives the firm significant market power. Strong barriers to entry prevent new firms from entering the market and competing with the monopolist. The monopolist is a price maker and can influence price by controlling the quantity supplied. The demand curve faced by a monopoly firm slopes downward, indicating that price must be reduced to sell more output.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Definition of Monopolistic Competition (with Example)</a:t>
            </a:r>
          </a:p>
        </p:txBody>
      </p:sp>
      <p:sp>
        <p:nvSpPr>
          <p:cNvPr id="3" name="Content Placeholder 2"/>
          <p:cNvSpPr>
            <a:spLocks noGrp="1"/>
          </p:cNvSpPr>
          <p:nvPr>
            <p:ph idx="1"/>
          </p:nvPr>
        </p:nvSpPr>
        <p:spPr/>
        <p:txBody>
          <a:bodyPr/>
          <a:lstStyle/>
          <a:p>
            <a:r>
              <a:t>Monopolistic competition is a market structure in which many firms sell differentiated products that are close substitutes and each firm has some control over price.</a:t>
            </a:r>
          </a:p>
          <a:p/>
          <a:p>
            <a:r>
              <a:t>For example, restaurants and clothing brands operate under monopolistic competition because they offer similar but differentiated products.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Characteristics of Monopolistic Competition</a:t>
            </a:r>
          </a:p>
        </p:txBody>
      </p:sp>
      <p:sp>
        <p:nvSpPr>
          <p:cNvPr id="3" name="Content Placeholder 2"/>
          <p:cNvSpPr>
            <a:spLocks noGrp="1"/>
          </p:cNvSpPr>
          <p:nvPr>
            <p:ph idx="1"/>
          </p:nvPr>
        </p:nvSpPr>
        <p:spPr/>
        <p:txBody>
          <a:bodyPr/>
          <a:lstStyle/>
          <a:p>
            <a:r>
              <a:t>Monopolistic competition is characterized by the presence of a large number of firms that compete with each other in the market. Each firm produces a differentiated product, creating brand loyalty and some degree of market power. There are relatively low barriers to entry and exit, allowing firms to enter when profits exist. Firms incur selling and advertising costs to promote their products and attract customers. The demand curve faced by each firm is downward sloping due to product differentiation and availability of substitutes.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Definition of Oligopoly (with Example)</a:t>
            </a:r>
          </a:p>
        </p:txBody>
      </p:sp>
      <p:sp>
        <p:nvSpPr>
          <p:cNvPr id="3" name="Content Placeholder 2"/>
          <p:cNvSpPr>
            <a:spLocks noGrp="1"/>
          </p:cNvSpPr>
          <p:nvPr>
            <p:ph idx="1"/>
          </p:nvPr>
        </p:nvSpPr>
        <p:spPr/>
        <p:txBody>
          <a:bodyPr/>
          <a:lstStyle/>
          <a:p>
            <a:r>
              <a:t>Oligopoly is a market structure in which a small number of large firms dominate the market and each firm’s decisions influence the actions of its competitors.</a:t>
            </a:r>
          </a:p>
          <a:p/>
          <a:p>
            <a:r>
              <a:t>For example, the automobile and telecom industries are oligopolistic because a few major firms control most of the market.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Characteristics of Oligopoly</a:t>
            </a:r>
          </a:p>
        </p:txBody>
      </p:sp>
      <p:sp>
        <p:nvSpPr>
          <p:cNvPr id="3" name="Content Placeholder 2"/>
          <p:cNvSpPr>
            <a:spLocks noGrp="1"/>
          </p:cNvSpPr>
          <p:nvPr>
            <p:ph idx="1"/>
          </p:nvPr>
        </p:nvSpPr>
        <p:spPr/>
        <p:txBody>
          <a:bodyPr/>
          <a:lstStyle/>
          <a:p>
            <a:r>
              <a:t>Oligopoly is characterized by the presence of a few dominant firms that control a large share of the market. Firms in an oligopoly are interdependent, meaning each firm must consider the reactions of rivals before changing price or output. High barriers to entry exist due to large capital requirements and strong brand loyalty. Firms engage in strategic decision making and often compete through advertising and product differentiation. Prices in oligopoly tend to be rigid because firms avoid price wars that could reduce profits for all competitors.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