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Market Structures in Microeconomics</a:t>
            </a:r>
          </a:p>
        </p:txBody>
      </p:sp>
      <p:sp>
        <p:nvSpPr>
          <p:cNvPr id="3" name="Subtitle 2"/>
          <p:cNvSpPr>
            <a:spLocks noGrp="1"/>
          </p:cNvSpPr>
          <p:nvPr>
            <p:ph type="subTitle" idx="1"/>
          </p:nvPr>
        </p:nvSpPr>
        <p:spPr/>
        <p:txBody>
          <a:bodyPr/>
          <a:lstStyle/>
          <a:p>
            <a:r>
              <a:rPr dirty="0"/>
              <a:t>Perfect Competition, Monopoly, Monopolistic Competition &amp; Oligopoly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Meaning of Market and Market Structure</a:t>
            </a:r>
          </a:p>
        </p:txBody>
      </p:sp>
      <p:sp>
        <p:nvSpPr>
          <p:cNvPr id="3" name="Content Placeholder 2"/>
          <p:cNvSpPr>
            <a:spLocks noGrp="1"/>
          </p:cNvSpPr>
          <p:nvPr>
            <p:ph idx="1"/>
          </p:nvPr>
        </p:nvSpPr>
        <p:spPr/>
        <p:txBody>
          <a:bodyPr/>
          <a:lstStyle/>
          <a:p>
            <a:r>
              <a:t>A market is a system in which buyers and sellers interact to exchange goods and services and determine price and quantity through demand and supply forces.</a:t>
            </a:r>
          </a:p>
          <a:p>
            <a:endParaRPr/>
          </a:p>
          <a:p>
            <a:r>
              <a:t>Market structure refers to the organizational characteristics of a market that influence the degree of competition, pricing behaviour, output decisions and profit levels of firms. Thus, market structure explains how firms behave under different competitive conditions.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Market Structures</a:t>
            </a:r>
          </a:p>
        </p:txBody>
      </p:sp>
      <p:sp>
        <p:nvSpPr>
          <p:cNvPr id="3" name="Content Placeholder 2"/>
          <p:cNvSpPr>
            <a:spLocks noGrp="1"/>
          </p:cNvSpPr>
          <p:nvPr>
            <p:ph idx="1"/>
          </p:nvPr>
        </p:nvSpPr>
        <p:spPr/>
        <p:txBody>
          <a:bodyPr/>
          <a:lstStyle/>
          <a:p>
            <a:r>
              <a:t>Economists classify markets into four main forms based on the level of competition and market power. These are perfect competition, monopoly, monopolistic competition and oligopoly. Each structure differs in number of firms, type of product and degree of control over price.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Perfect Competition (with Example)</a:t>
            </a:r>
          </a:p>
        </p:txBody>
      </p:sp>
      <p:sp>
        <p:nvSpPr>
          <p:cNvPr id="3" name="Content Placeholder 2"/>
          <p:cNvSpPr>
            <a:spLocks noGrp="1"/>
          </p:cNvSpPr>
          <p:nvPr>
            <p:ph idx="1"/>
          </p:nvPr>
        </p:nvSpPr>
        <p:spPr/>
        <p:txBody>
          <a:bodyPr/>
          <a:lstStyle/>
          <a:p>
            <a:r>
              <a:t>Perfect competition is a market structure in which a very large number of buyers and sellers deal in identical products and no single firm can influence the market price.</a:t>
            </a:r>
          </a:p>
          <a:p>
            <a:endParaRPr/>
          </a:p>
          <a:p>
            <a:r>
              <a:t>For example, agricultural markets such as wheat or rice markets closely resemble perfect competition because many farmers sell identical products and accept the market price.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Perfect Competition</a:t>
            </a:r>
          </a:p>
        </p:txBody>
      </p:sp>
      <p:sp>
        <p:nvSpPr>
          <p:cNvPr id="3" name="Content Placeholder 2"/>
          <p:cNvSpPr>
            <a:spLocks noGrp="1"/>
          </p:cNvSpPr>
          <p:nvPr>
            <p:ph idx="1"/>
          </p:nvPr>
        </p:nvSpPr>
        <p:spPr/>
        <p:txBody>
          <a:bodyPr/>
          <a:lstStyle/>
          <a:p>
            <a:r>
              <a:t>Perfect competition is characterized by the presence of a large number of buyers and sellers, which makes each firm too small to influence market price. All firms produce homogeneous products, meaning consumers do not distinguish between products of different firms. There is free entry and exit of firms, allowing new firms to enter when profits exist and leave when losses occur. Firms have perfect knowledge about prices and market conditions, ensuring transparency in transactions. Each firm acts as a price taker and accepts the price determined by the forces of demand and supply.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Nature of Demand Curve in Perfect Competition</a:t>
            </a:r>
          </a:p>
        </p:txBody>
      </p:sp>
      <p:sp>
        <p:nvSpPr>
          <p:cNvPr id="3" name="Content Placeholder 2"/>
          <p:cNvSpPr>
            <a:spLocks noGrp="1"/>
          </p:cNvSpPr>
          <p:nvPr>
            <p:ph idx="1"/>
          </p:nvPr>
        </p:nvSpPr>
        <p:spPr/>
        <p:txBody>
          <a:bodyPr/>
          <a:lstStyle/>
          <a:p>
            <a:r>
              <a:t>Under perfect competition, the demand curve facing an individual firm is perfectly elastic because the firm can sell any quantity at the market price but cannot charge a higher price.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Equilibrium in Perfect Competition</a:t>
            </a:r>
          </a:p>
        </p:txBody>
      </p:sp>
      <p:sp>
        <p:nvSpPr>
          <p:cNvPr id="3" name="Content Placeholder 2"/>
          <p:cNvSpPr>
            <a:spLocks noGrp="1"/>
          </p:cNvSpPr>
          <p:nvPr>
            <p:ph idx="1"/>
          </p:nvPr>
        </p:nvSpPr>
        <p:spPr/>
        <p:txBody>
          <a:bodyPr/>
          <a:lstStyle/>
          <a:p>
            <a:r>
              <a:t>A perfectly competitive firm maximizes profit at the output level where marginal revenue equals marginal cost (MR = MC). Since the firm is a price taker, price equals MR and AR at equilibrium 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Equilibrium in Perfect Competition</a:t>
            </a:r>
          </a:p>
        </p:txBody>
      </p:sp>
      <p:sp>
        <p:nvSpPr>
          <p:cNvPr id="3" name="Content Placeholder 2"/>
          <p:cNvSpPr>
            <a:spLocks noGrp="1"/>
          </p:cNvSpPr>
          <p:nvPr>
            <p:ph idx="1"/>
          </p:nvPr>
        </p:nvSpPr>
        <p:spPr/>
        <p:txBody>
          <a:bodyPr/>
          <a:lstStyle/>
          <a:p>
            <a:r>
              <a:t>In the long run, entry and exit of firms eliminate abnormal profits and equilibrium occurs where P = MR = MC = AC. Firms earn only normal profit in long-run equilibrium.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Efficiency under Perfect Competition</a:t>
            </a:r>
          </a:p>
        </p:txBody>
      </p:sp>
      <p:sp>
        <p:nvSpPr>
          <p:cNvPr id="3" name="Content Placeholder 2"/>
          <p:cNvSpPr>
            <a:spLocks noGrp="1"/>
          </p:cNvSpPr>
          <p:nvPr>
            <p:ph idx="1"/>
          </p:nvPr>
        </p:nvSpPr>
        <p:spPr/>
        <p:txBody>
          <a:bodyPr/>
          <a:lstStyle/>
          <a:p>
            <a:r>
              <a:t>Perfect competition leads to productive efficiency because firms produce at minimum average cost. It also ensures allocative efficiency since price equals marginal cost, resulting in optimal allocation of resources.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Monopoly (with Example)</a:t>
            </a:r>
          </a:p>
        </p:txBody>
      </p:sp>
      <p:sp>
        <p:nvSpPr>
          <p:cNvPr id="3" name="Content Placeholder 2"/>
          <p:cNvSpPr>
            <a:spLocks noGrp="1"/>
          </p:cNvSpPr>
          <p:nvPr>
            <p:ph idx="1"/>
          </p:nvPr>
        </p:nvSpPr>
        <p:spPr/>
        <p:txBody>
          <a:bodyPr/>
          <a:lstStyle/>
          <a:p>
            <a:r>
              <a:t>Monopoly is a market structure in which a single firm is the sole producer of a product with no close substitutes and where entry of new firms is strongly restricted.</a:t>
            </a:r>
          </a:p>
          <a:p>
            <a:endParaRPr/>
          </a:p>
          <a:p>
            <a:r>
              <a:t>For example, public utility services such as electricity supply in many regions operate as monopolies because a single firm controls the entire market.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Monopoly</a:t>
            </a:r>
          </a:p>
        </p:txBody>
      </p:sp>
      <p:sp>
        <p:nvSpPr>
          <p:cNvPr id="3" name="Content Placeholder 2"/>
          <p:cNvSpPr>
            <a:spLocks noGrp="1"/>
          </p:cNvSpPr>
          <p:nvPr>
            <p:ph idx="1"/>
          </p:nvPr>
        </p:nvSpPr>
        <p:spPr/>
        <p:txBody>
          <a:bodyPr/>
          <a:lstStyle/>
          <a:p>
            <a:r>
              <a:t>Monopoly is characterized by the existence of a single seller who represents the entire industry. The product supplied by the monopolist has no close substitutes, which gives the firm significant market power. Strong barriers to entry prevent new firms from entering the market and competing with the monopolist. The monopolist is a price maker and can influence price by controlling the quantity supplied. The demand curve faced by a monopoly firm slopes downward.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Equilibrium in Monopoly</a:t>
            </a:r>
          </a:p>
        </p:txBody>
      </p:sp>
      <p:sp>
        <p:nvSpPr>
          <p:cNvPr id="3" name="Content Placeholder 2"/>
          <p:cNvSpPr>
            <a:spLocks noGrp="1"/>
          </p:cNvSpPr>
          <p:nvPr>
            <p:ph idx="1"/>
          </p:nvPr>
        </p:nvSpPr>
        <p:spPr/>
        <p:txBody>
          <a:bodyPr/>
          <a:lstStyle/>
          <a:p>
            <a:r>
              <a:t>A monopolist maximizes profit where MR = MC. Since the demand curve slopes downward, price is greater than marginal revenue and the firm can earn supernormal profit in the short run.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Equilibrium in Monopoly</a:t>
            </a:r>
          </a:p>
        </p:txBody>
      </p:sp>
      <p:sp>
        <p:nvSpPr>
          <p:cNvPr id="3" name="Content Placeholder 2"/>
          <p:cNvSpPr>
            <a:spLocks noGrp="1"/>
          </p:cNvSpPr>
          <p:nvPr>
            <p:ph idx="1"/>
          </p:nvPr>
        </p:nvSpPr>
        <p:spPr/>
        <p:txBody>
          <a:bodyPr/>
          <a:lstStyle/>
          <a:p>
            <a:r>
              <a:t>In the long run, strong barriers prevent entry of new firms, so the monopolist continues producing where MR = MC and price remains greater than average cost, allowing abnormal profits.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Welfare Effects of Monopoly</a:t>
            </a:r>
          </a:p>
        </p:txBody>
      </p:sp>
      <p:sp>
        <p:nvSpPr>
          <p:cNvPr id="3" name="Content Placeholder 2"/>
          <p:cNvSpPr>
            <a:spLocks noGrp="1"/>
          </p:cNvSpPr>
          <p:nvPr>
            <p:ph idx="1"/>
          </p:nvPr>
        </p:nvSpPr>
        <p:spPr/>
        <p:txBody>
          <a:bodyPr/>
          <a:lstStyle/>
          <a:p>
            <a:r>
              <a:t>Monopoly often results in higher prices and lower output compared to competitive markets, which reduces consumer welfare and leads to inefficient allocation of resources.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Monopolistic Competition (with Example)</a:t>
            </a:r>
          </a:p>
        </p:txBody>
      </p:sp>
      <p:sp>
        <p:nvSpPr>
          <p:cNvPr id="3" name="Content Placeholder 2"/>
          <p:cNvSpPr>
            <a:spLocks noGrp="1"/>
          </p:cNvSpPr>
          <p:nvPr>
            <p:ph idx="1"/>
          </p:nvPr>
        </p:nvSpPr>
        <p:spPr/>
        <p:txBody>
          <a:bodyPr/>
          <a:lstStyle/>
          <a:p>
            <a:r>
              <a:t>Monopolistic competition is a market structure in which many firms sell differentiated products that are close substitutes and each firm has some control over price.</a:t>
            </a:r>
          </a:p>
          <a:p>
            <a:endParaRPr/>
          </a:p>
          <a:p>
            <a:r>
              <a:t>For example, restaurants and clothing brands operate under monopolistic competition because they offer similar but differentiated products.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Monopolistic Competition</a:t>
            </a:r>
          </a:p>
        </p:txBody>
      </p:sp>
      <p:sp>
        <p:nvSpPr>
          <p:cNvPr id="3" name="Content Placeholder 2"/>
          <p:cNvSpPr>
            <a:spLocks noGrp="1"/>
          </p:cNvSpPr>
          <p:nvPr>
            <p:ph idx="1"/>
          </p:nvPr>
        </p:nvSpPr>
        <p:spPr/>
        <p:txBody>
          <a:bodyPr/>
          <a:lstStyle/>
          <a:p>
            <a:r>
              <a:t>Monopolistic competition is characterized by a large number of firms producing differentiated products. There are low barriers to entry and exit, and firms incur advertising costs to promote their brands. Each firm faces a downward sloping demand curve due to product differentiation.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Short-Run Equilibrium in Monopolistic Competition</a:t>
            </a:r>
          </a:p>
        </p:txBody>
      </p:sp>
      <p:sp>
        <p:nvSpPr>
          <p:cNvPr id="3" name="Content Placeholder 2"/>
          <p:cNvSpPr>
            <a:spLocks noGrp="1"/>
          </p:cNvSpPr>
          <p:nvPr>
            <p:ph idx="1"/>
          </p:nvPr>
        </p:nvSpPr>
        <p:spPr/>
        <p:txBody>
          <a:bodyPr/>
          <a:lstStyle/>
          <a:p>
            <a:r>
              <a:t>Firms maximize profit where MR = MC. Because demand is downward sloping, price exceeds marginal revenue and firms may earn supernormal profit in the short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Long-Run Equilibrium in Monopolistic Competition</a:t>
            </a:r>
          </a:p>
        </p:txBody>
      </p:sp>
      <p:sp>
        <p:nvSpPr>
          <p:cNvPr id="3" name="Content Placeholder 2"/>
          <p:cNvSpPr>
            <a:spLocks noGrp="1"/>
          </p:cNvSpPr>
          <p:nvPr>
            <p:ph idx="1"/>
          </p:nvPr>
        </p:nvSpPr>
        <p:spPr/>
        <p:txBody>
          <a:bodyPr/>
          <a:lstStyle/>
          <a:p>
            <a:r>
              <a:t>In the long run, entry of new firms reduces profits and equilibrium occurs where MR = MC and price equals average cost, leaving only normal profit.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Excess Capacity in Monopolistic Competition</a:t>
            </a:r>
          </a:p>
        </p:txBody>
      </p:sp>
      <p:sp>
        <p:nvSpPr>
          <p:cNvPr id="3" name="Content Placeholder 2"/>
          <p:cNvSpPr>
            <a:spLocks noGrp="1"/>
          </p:cNvSpPr>
          <p:nvPr>
            <p:ph idx="1"/>
          </p:nvPr>
        </p:nvSpPr>
        <p:spPr/>
        <p:txBody>
          <a:bodyPr/>
          <a:lstStyle/>
          <a:p>
            <a:r>
              <a:t>Firms in monopolistic competition operate with excess capacity because they do not produce at the minimum point of average cost due to downward sloping demand.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Oligopoly (with Example)</a:t>
            </a:r>
          </a:p>
        </p:txBody>
      </p:sp>
      <p:sp>
        <p:nvSpPr>
          <p:cNvPr id="3" name="Content Placeholder 2"/>
          <p:cNvSpPr>
            <a:spLocks noGrp="1"/>
          </p:cNvSpPr>
          <p:nvPr>
            <p:ph idx="1"/>
          </p:nvPr>
        </p:nvSpPr>
        <p:spPr/>
        <p:txBody>
          <a:bodyPr/>
          <a:lstStyle/>
          <a:p>
            <a:r>
              <a:t>Oligopoly is a market structure in which a small number of large firms dominate the market and each firm’s decisions influence the actions of its competitors.</a:t>
            </a:r>
          </a:p>
          <a:p>
            <a:endParaRPr/>
          </a:p>
          <a:p>
            <a:r>
              <a:t>For example, the automobile and telecom industries are oligopolistic because a few major firms control most of the market.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Characteristics of Oligopoly</a:t>
            </a:r>
          </a:p>
        </p:txBody>
      </p:sp>
      <p:sp>
        <p:nvSpPr>
          <p:cNvPr id="3" name="Content Placeholder 2"/>
          <p:cNvSpPr>
            <a:spLocks noGrp="1"/>
          </p:cNvSpPr>
          <p:nvPr>
            <p:ph idx="1"/>
          </p:nvPr>
        </p:nvSpPr>
        <p:spPr/>
        <p:txBody>
          <a:bodyPr/>
          <a:lstStyle/>
          <a:p>
            <a:r>
              <a:t>Oligopoly is characterized by the presence of a few dominant firms that control a large share of the market. Firms are interdependent, meaning each firm considers rivals’ reactions before making decisions. High barriers to entry and strategic behaviour are common.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Interdependence in Oligopoly</a:t>
            </a:r>
          </a:p>
        </p:txBody>
      </p:sp>
      <p:sp>
        <p:nvSpPr>
          <p:cNvPr id="3" name="Content Placeholder 2"/>
          <p:cNvSpPr>
            <a:spLocks noGrp="1"/>
          </p:cNvSpPr>
          <p:nvPr>
            <p:ph idx="1"/>
          </p:nvPr>
        </p:nvSpPr>
        <p:spPr/>
        <p:txBody>
          <a:bodyPr/>
          <a:lstStyle/>
          <a:p>
            <a:r>
              <a:t>Firms in an oligopoly are mutually interdependent because any change in price or output by one firm directly affects the behaviour and profits of competing firms.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Kinked Demand Curve in Oligopoly</a:t>
            </a:r>
          </a:p>
        </p:txBody>
      </p:sp>
      <p:sp>
        <p:nvSpPr>
          <p:cNvPr id="3" name="Content Placeholder 2"/>
          <p:cNvSpPr>
            <a:spLocks noGrp="1"/>
          </p:cNvSpPr>
          <p:nvPr>
            <p:ph idx="1"/>
          </p:nvPr>
        </p:nvSpPr>
        <p:spPr/>
        <p:txBody>
          <a:bodyPr/>
          <a:lstStyle/>
          <a:p>
            <a:r>
              <a:t>The kinked demand curve explains price rigidity in oligopoly. Firms believe rivals will follow price decreases but ignore price increases, leading to stable prices.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Collusion and Cartels</a:t>
            </a:r>
          </a:p>
        </p:txBody>
      </p:sp>
      <p:sp>
        <p:nvSpPr>
          <p:cNvPr id="3" name="Content Placeholder 2"/>
          <p:cNvSpPr>
            <a:spLocks noGrp="1"/>
          </p:cNvSpPr>
          <p:nvPr>
            <p:ph idx="1"/>
          </p:nvPr>
        </p:nvSpPr>
        <p:spPr/>
        <p:txBody>
          <a:bodyPr/>
          <a:lstStyle/>
          <a:p>
            <a:r>
              <a:t>Oligopoly firms may form cartels or collude to fix prices and output levels in order to maximize joint profits and reduce competition.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of Market Structures</a:t>
            </a:r>
          </a:p>
        </p:txBody>
      </p:sp>
      <p:sp>
        <p:nvSpPr>
          <p:cNvPr id="3" name="Content Placeholder 2"/>
          <p:cNvSpPr>
            <a:spLocks noGrp="1"/>
          </p:cNvSpPr>
          <p:nvPr>
            <p:ph idx="1"/>
          </p:nvPr>
        </p:nvSpPr>
        <p:spPr/>
        <p:txBody>
          <a:bodyPr/>
          <a:lstStyle/>
          <a:p>
            <a:r>
              <a:t>Perfect competition represents maximum competition, monopoly represents absence of competition, while monopolistic competition and oligopoly lie between these extremes.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Price and Output Determination</a:t>
            </a:r>
          </a:p>
        </p:txBody>
      </p:sp>
      <p:sp>
        <p:nvSpPr>
          <p:cNvPr id="3" name="Content Placeholder 2"/>
          <p:cNvSpPr>
            <a:spLocks noGrp="1"/>
          </p:cNvSpPr>
          <p:nvPr>
            <p:ph idx="1"/>
          </p:nvPr>
        </p:nvSpPr>
        <p:spPr/>
        <p:txBody>
          <a:bodyPr/>
          <a:lstStyle/>
          <a:p>
            <a:r>
              <a:t>Different market structures determine price and output differently based on their level of competition and market power.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Role of Entry Barriers</a:t>
            </a:r>
          </a:p>
        </p:txBody>
      </p:sp>
      <p:sp>
        <p:nvSpPr>
          <p:cNvPr id="3" name="Content Placeholder 2"/>
          <p:cNvSpPr>
            <a:spLocks noGrp="1"/>
          </p:cNvSpPr>
          <p:nvPr>
            <p:ph idx="1"/>
          </p:nvPr>
        </p:nvSpPr>
        <p:spPr/>
        <p:txBody>
          <a:bodyPr/>
          <a:lstStyle/>
          <a:p>
            <a:r>
              <a:t>Entry barriers play a crucial role in distinguishing market structures by determining whether new firms can enter and compete in the industry.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 World Relevance</a:t>
            </a:r>
          </a:p>
        </p:txBody>
      </p:sp>
      <p:sp>
        <p:nvSpPr>
          <p:cNvPr id="3" name="Content Placeholder 2"/>
          <p:cNvSpPr>
            <a:spLocks noGrp="1"/>
          </p:cNvSpPr>
          <p:nvPr>
            <p:ph idx="1"/>
          </p:nvPr>
        </p:nvSpPr>
        <p:spPr/>
        <p:txBody>
          <a:bodyPr/>
          <a:lstStyle/>
          <a:p>
            <a:r>
              <a:t>Most real-world markets fall under monopolistic competition or oligopoly, as pure perfect competition and pure monopoly are rare in practice.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Studying Market Structures</a:t>
            </a:r>
          </a:p>
        </p:txBody>
      </p:sp>
      <p:sp>
        <p:nvSpPr>
          <p:cNvPr id="3" name="Content Placeholder 2"/>
          <p:cNvSpPr>
            <a:spLocks noGrp="1"/>
          </p:cNvSpPr>
          <p:nvPr>
            <p:ph idx="1"/>
          </p:nvPr>
        </p:nvSpPr>
        <p:spPr/>
        <p:txBody>
          <a:bodyPr/>
          <a:lstStyle/>
          <a:p>
            <a:r>
              <a:t>Understanding market structures helps analyse firm behaviour, price determination, profit levels and the impact of competition on consumer welfare.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Overall Evaluation</a:t>
            </a:r>
          </a:p>
        </p:txBody>
      </p:sp>
      <p:sp>
        <p:nvSpPr>
          <p:cNvPr id="3" name="Content Placeholder 2"/>
          <p:cNvSpPr>
            <a:spLocks noGrp="1"/>
          </p:cNvSpPr>
          <p:nvPr>
            <p:ph idx="1"/>
          </p:nvPr>
        </p:nvSpPr>
        <p:spPr/>
        <p:txBody>
          <a:bodyPr/>
          <a:lstStyle/>
          <a:p>
            <a:r>
              <a:t>Each market structure has its own advantages and disadvantages in terms of efficiency, innovation and consumer choice.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Conclusion</a:t>
            </a:r>
          </a:p>
        </p:txBody>
      </p:sp>
      <p:sp>
        <p:nvSpPr>
          <p:cNvPr id="3" name="Content Placeholder 2"/>
          <p:cNvSpPr>
            <a:spLocks noGrp="1"/>
          </p:cNvSpPr>
          <p:nvPr>
            <p:ph idx="1"/>
          </p:nvPr>
        </p:nvSpPr>
        <p:spPr/>
        <p:txBody>
          <a:bodyPr/>
          <a:lstStyle/>
          <a:p>
            <a:r>
              <a:t>Market structures explain how the level of competition affects pricing, output and profit. They are essential for understanding microeconomic theory and real-world industry behaviour.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Thank you for your attention.</a:t>
            </a:r>
          </a:p>
          <a:p>
            <a: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1299</Words>
  <Application>Microsoft Office PowerPoint</Application>
  <PresentationFormat>On-screen Show (4:3)</PresentationFormat>
  <Paragraphs>75</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Market Structures in Microeconomics</vt:lpstr>
      <vt:lpstr>Meaning of Market and Market Structure</vt:lpstr>
      <vt:lpstr>Types of Market Structures</vt:lpstr>
      <vt:lpstr>Definition of Perfect Competition (with Example)</vt:lpstr>
      <vt:lpstr>Characteristics of Perfect Competition</vt:lpstr>
      <vt:lpstr>Nature of Demand Curve in Perfect Competition</vt:lpstr>
      <vt:lpstr>Short-Run Equilibrium in Perfect Competition</vt:lpstr>
      <vt:lpstr>Long-Run Equilibrium in Perfect Competition</vt:lpstr>
      <vt:lpstr>Efficiency under Perfect Competition</vt:lpstr>
      <vt:lpstr>Definition of Monopoly (with Example)</vt:lpstr>
      <vt:lpstr>Characteristics of Monopoly</vt:lpstr>
      <vt:lpstr>Short-Run Equilibrium in Monopoly</vt:lpstr>
      <vt:lpstr>Long-Run Equilibrium in Monopoly</vt:lpstr>
      <vt:lpstr>Welfare Effects of Monopoly</vt:lpstr>
      <vt:lpstr>Definition of Monopolistic Competition (with Example)</vt:lpstr>
      <vt:lpstr>Characteristics of Monopolistic Competition</vt:lpstr>
      <vt:lpstr>Short-Run Equilibrium in Monopolistic Competition</vt:lpstr>
      <vt:lpstr>Long-Run Equilibrium in Monopolistic Competition</vt:lpstr>
      <vt:lpstr>Excess Capacity in Monopolistic Competition</vt:lpstr>
      <vt:lpstr>Definition of Oligopoly (with Example)</vt:lpstr>
      <vt:lpstr>Characteristics of Oligopoly</vt:lpstr>
      <vt:lpstr>Interdependence in Oligopoly</vt:lpstr>
      <vt:lpstr>Kinked Demand Curve in Oligopoly</vt:lpstr>
      <vt:lpstr>Collusion and Cartels</vt:lpstr>
      <vt:lpstr>Comparison of Market Structures</vt:lpstr>
      <vt:lpstr>Price and Output Determination</vt:lpstr>
      <vt:lpstr>Role of Entry Barriers</vt:lpstr>
      <vt:lpstr>Real World Relevance</vt:lpstr>
      <vt:lpstr>Importance of Studying Market Structures</vt:lpstr>
      <vt:lpstr>Overall Evaluation</vt:lpstr>
      <vt:lpstr>Final 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Akash Uchachariya</cp:lastModifiedBy>
  <cp:revision>2</cp:revision>
  <dcterms:created xsi:type="dcterms:W3CDTF">2013-01-27T09:14:16Z</dcterms:created>
  <dcterms:modified xsi:type="dcterms:W3CDTF">2026-02-12T14:16:23Z</dcterms:modified>
  <cp:category/>
</cp:coreProperties>
</file>